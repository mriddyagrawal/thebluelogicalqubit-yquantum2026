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68129" y="3844881"/>
            <a:ext cx="5543550" cy="931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chemeClr val="bg1"/>
                </a:solidFill>
                <a:latin typeface="Acumin Pro"/>
                <a:cs typeface="Acumin Pr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chemeClr val="bg1"/>
                </a:solidFill>
                <a:latin typeface="Eurostile"/>
                <a:cs typeface="Eurostil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bg1"/>
                </a:solidFill>
                <a:latin typeface="Acumin Pro"/>
                <a:cs typeface="Acumin Pr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chemeClr val="bg1"/>
                </a:solidFill>
                <a:latin typeface="Eurostile"/>
                <a:cs typeface="Eurostil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bg1"/>
                </a:solidFill>
                <a:latin typeface="Acumin Pro"/>
                <a:cs typeface="Acumin Pr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bg1"/>
                </a:solidFill>
                <a:latin typeface="Acumin Pro"/>
                <a:cs typeface="Acumin Pr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3831" y="1119806"/>
            <a:ext cx="10702330" cy="1236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chemeClr val="bg1"/>
                </a:solidFill>
                <a:latin typeface="Acumin Pro"/>
                <a:cs typeface="Acumin Pr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46674" y="2366386"/>
            <a:ext cx="10323830" cy="476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chemeClr val="bg1"/>
                </a:solidFill>
                <a:latin typeface="Eurostile"/>
                <a:cs typeface="Eurostil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8268129" y="3844881"/>
            <a:ext cx="5543550" cy="93154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950" spc="-50">
                <a:solidFill>
                  <a:srgbClr val="FFFFFF"/>
                </a:solidFill>
                <a:latin typeface="Arbotek Light"/>
                <a:cs typeface="Arbotek Light"/>
              </a:rPr>
              <a:t>B</a:t>
            </a:r>
            <a:r>
              <a:rPr dirty="0" sz="5950" spc="-5030">
                <a:solidFill>
                  <a:srgbClr val="FFFFFF"/>
                </a:solidFill>
                <a:latin typeface="Arbotek Light"/>
                <a:cs typeface="Arbotek Light"/>
              </a:rPr>
              <a:t> </a:t>
            </a:r>
            <a:r>
              <a:rPr dirty="0" sz="5950" spc="515">
                <a:solidFill>
                  <a:srgbClr val="FFFFFF"/>
                </a:solidFill>
                <a:latin typeface="Arbotek Light"/>
                <a:cs typeface="Arbotek Light"/>
              </a:rPr>
              <a:t>L</a:t>
            </a:r>
            <a:r>
              <a:rPr dirty="0" sz="5950" spc="-45">
                <a:solidFill>
                  <a:srgbClr val="FFFFFF"/>
                </a:solidFill>
                <a:latin typeface="Arbotek Light"/>
                <a:cs typeface="Arbotek Light"/>
              </a:rPr>
              <a:t>U</a:t>
            </a:r>
            <a:r>
              <a:rPr dirty="0" sz="5950" spc="-5030">
                <a:solidFill>
                  <a:srgbClr val="FFFFFF"/>
                </a:solidFill>
                <a:latin typeface="Arbotek Light"/>
                <a:cs typeface="Arbotek Light"/>
              </a:rPr>
              <a:t> </a:t>
            </a:r>
            <a:r>
              <a:rPr dirty="0" sz="5950" spc="-45">
                <a:solidFill>
                  <a:srgbClr val="FFFFFF"/>
                </a:solidFill>
                <a:latin typeface="Arbotek Light"/>
                <a:cs typeface="Arbotek Light"/>
              </a:rPr>
              <a:t>E</a:t>
            </a:r>
            <a:r>
              <a:rPr dirty="0" sz="5950" spc="-5090">
                <a:solidFill>
                  <a:srgbClr val="FFFFFF"/>
                </a:solidFill>
                <a:latin typeface="Arbotek Light"/>
                <a:cs typeface="Arbotek Light"/>
              </a:rPr>
              <a:t> </a:t>
            </a:r>
            <a:r>
              <a:rPr dirty="0" sz="5950" spc="-50">
                <a:solidFill>
                  <a:srgbClr val="FFFFFF"/>
                </a:solidFill>
                <a:latin typeface="Arbotek Light"/>
                <a:cs typeface="Arbotek Light"/>
              </a:rPr>
              <a:t>Q</a:t>
            </a:r>
            <a:r>
              <a:rPr dirty="0" sz="5950" spc="-5030">
                <a:solidFill>
                  <a:srgbClr val="FFFFFF"/>
                </a:solidFill>
                <a:latin typeface="Arbotek Light"/>
                <a:cs typeface="Arbotek Light"/>
              </a:rPr>
              <a:t> </a:t>
            </a:r>
            <a:r>
              <a:rPr dirty="0" sz="5950" spc="-50">
                <a:solidFill>
                  <a:srgbClr val="FFFFFF"/>
                </a:solidFill>
                <a:latin typeface="Arbotek Light"/>
                <a:cs typeface="Arbotek Light"/>
              </a:rPr>
              <a:t>U</a:t>
            </a:r>
            <a:r>
              <a:rPr dirty="0" sz="5950" spc="-5030">
                <a:solidFill>
                  <a:srgbClr val="FFFFFF"/>
                </a:solidFill>
                <a:latin typeface="Arbotek Light"/>
                <a:cs typeface="Arbotek Light"/>
              </a:rPr>
              <a:t> </a:t>
            </a:r>
            <a:r>
              <a:rPr dirty="0" sz="5950" spc="-50">
                <a:solidFill>
                  <a:srgbClr val="FFFFFF"/>
                </a:solidFill>
                <a:latin typeface="Arbotek Light"/>
                <a:cs typeface="Arbotek Light"/>
              </a:rPr>
              <a:t>B</a:t>
            </a:r>
            <a:r>
              <a:rPr dirty="0" sz="5950" spc="-5030">
                <a:solidFill>
                  <a:srgbClr val="FFFFFF"/>
                </a:solidFill>
                <a:latin typeface="Arbotek Light"/>
                <a:cs typeface="Arbotek Light"/>
              </a:rPr>
              <a:t> </a:t>
            </a:r>
            <a:r>
              <a:rPr dirty="0" sz="5950" spc="-15">
                <a:solidFill>
                  <a:srgbClr val="FFFFFF"/>
                </a:solidFill>
                <a:latin typeface="Arbotek Light"/>
                <a:cs typeface="Arbotek Light"/>
              </a:rPr>
              <a:t>I</a:t>
            </a:r>
            <a:r>
              <a:rPr dirty="0" sz="5950" spc="-5030">
                <a:solidFill>
                  <a:srgbClr val="FFFFFF"/>
                </a:solidFill>
                <a:latin typeface="Arbotek Light"/>
                <a:cs typeface="Arbotek Light"/>
              </a:rPr>
              <a:t> </a:t>
            </a:r>
            <a:r>
              <a:rPr dirty="0" sz="5950" spc="-40">
                <a:solidFill>
                  <a:srgbClr val="FFFFFF"/>
                </a:solidFill>
                <a:latin typeface="Arbotek Light"/>
                <a:cs typeface="Arbotek Light"/>
              </a:rPr>
              <a:t>T</a:t>
            </a:r>
            <a:endParaRPr sz="5950">
              <a:latin typeface="Arbotek Light"/>
              <a:cs typeface="Arbotek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82470" y="4406432"/>
            <a:ext cx="5539740" cy="1828164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u="sng" sz="54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C</a:t>
            </a:r>
            <a:r>
              <a:rPr dirty="0" u="sng" sz="5450" spc="-88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 </a:t>
            </a:r>
            <a:r>
              <a:rPr dirty="0" u="sng" sz="54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H</a:t>
            </a:r>
            <a:r>
              <a:rPr dirty="0" u="sng" sz="5450" spc="-88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 </a:t>
            </a:r>
            <a:r>
              <a:rPr dirty="0" u="sng" sz="54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A</a:t>
            </a:r>
            <a:r>
              <a:rPr dirty="0" u="sng" sz="5450" spc="-88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 </a:t>
            </a:r>
            <a:r>
              <a:rPr dirty="0" u="sng" sz="54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L</a:t>
            </a:r>
            <a:r>
              <a:rPr dirty="0" u="sng" sz="5450" spc="-88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 </a:t>
            </a:r>
            <a:r>
              <a:rPr dirty="0" u="sng" sz="54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L</a:t>
            </a:r>
            <a:r>
              <a:rPr dirty="0" u="sng" sz="5450" spc="-88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 </a:t>
            </a:r>
            <a:r>
              <a:rPr dirty="0" u="sng" sz="54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E</a:t>
            </a:r>
            <a:r>
              <a:rPr dirty="0" u="sng" sz="5450" spc="-88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 </a:t>
            </a:r>
            <a:r>
              <a:rPr dirty="0" u="sng" sz="54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N</a:t>
            </a:r>
            <a:r>
              <a:rPr dirty="0" u="sng" sz="5450" spc="-88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 </a:t>
            </a:r>
            <a:r>
              <a:rPr dirty="0" u="sng" sz="54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G</a:t>
            </a:r>
            <a:r>
              <a:rPr dirty="0" u="sng" sz="5450" spc="-88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 </a:t>
            </a:r>
            <a:r>
              <a:rPr dirty="0" u="sng" sz="5450" spc="-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botek Light"/>
                <a:cs typeface="Arbotek Light"/>
              </a:rPr>
              <a:t>E</a:t>
            </a:r>
            <a:endParaRPr sz="5450">
              <a:latin typeface="Arbotek Light"/>
              <a:cs typeface="Arbotek Light"/>
            </a:endParaRPr>
          </a:p>
          <a:p>
            <a:pPr marL="46990">
              <a:lnSpc>
                <a:spcPct val="100000"/>
              </a:lnSpc>
              <a:spcBef>
                <a:spcPts val="1115"/>
              </a:spcBef>
            </a:pPr>
            <a:r>
              <a:rPr dirty="0" sz="4300" spc="55">
                <a:solidFill>
                  <a:srgbClr val="FFFFFF"/>
                </a:solidFill>
                <a:latin typeface="Eurostile"/>
                <a:cs typeface="Eurostile"/>
              </a:rPr>
              <a:t>T</a:t>
            </a:r>
            <a:r>
              <a:rPr dirty="0" sz="4300">
                <a:solidFill>
                  <a:srgbClr val="FFFFFF"/>
                </a:solidFill>
                <a:latin typeface="Eurostile"/>
                <a:cs typeface="Eurostile"/>
              </a:rPr>
              <a:t>he</a:t>
            </a:r>
            <a:r>
              <a:rPr dirty="0" sz="4300" spc="-322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300" spc="45">
                <a:solidFill>
                  <a:srgbClr val="FFFFFF"/>
                </a:solidFill>
                <a:latin typeface="Eurostile"/>
                <a:cs typeface="Eurostile"/>
              </a:rPr>
              <a:t>L</a:t>
            </a:r>
            <a:r>
              <a:rPr dirty="0" sz="4300">
                <a:solidFill>
                  <a:srgbClr val="FFFFFF"/>
                </a:solidFill>
                <a:latin typeface="Eurostile"/>
                <a:cs typeface="Eurostile"/>
              </a:rPr>
              <a:t>ogi</a:t>
            </a:r>
            <a:r>
              <a:rPr dirty="0" sz="4300" spc="25">
                <a:solidFill>
                  <a:srgbClr val="FFFFFF"/>
                </a:solidFill>
                <a:latin typeface="Eurostile"/>
                <a:cs typeface="Eurostile"/>
              </a:rPr>
              <a:t>c</a:t>
            </a:r>
            <a:r>
              <a:rPr dirty="0" sz="4300">
                <a:solidFill>
                  <a:srgbClr val="FFFFFF"/>
                </a:solidFill>
                <a:latin typeface="Eurostile"/>
                <a:cs typeface="Eurostile"/>
              </a:rPr>
              <a:t>al</a:t>
            </a:r>
            <a:r>
              <a:rPr dirty="0" sz="4300" spc="-322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300" spc="25">
                <a:solidFill>
                  <a:srgbClr val="FFFFFF"/>
                </a:solidFill>
                <a:latin typeface="Eurostile"/>
                <a:cs typeface="Eurostile"/>
              </a:rPr>
              <a:t>Q</a:t>
            </a:r>
            <a:r>
              <a:rPr dirty="0" sz="4300">
                <a:solidFill>
                  <a:srgbClr val="FFFFFF"/>
                </a:solidFill>
                <a:latin typeface="Eurostile"/>
                <a:cs typeface="Eurostile"/>
              </a:rPr>
              <a:t>ubi</a:t>
            </a:r>
            <a:r>
              <a:rPr dirty="0" sz="4300" spc="110">
                <a:solidFill>
                  <a:srgbClr val="FFFFFF"/>
                </a:solidFill>
                <a:latin typeface="Eurostile"/>
                <a:cs typeface="Eurostile"/>
              </a:rPr>
              <a:t>t</a:t>
            </a:r>
            <a:r>
              <a:rPr dirty="0" sz="4300">
                <a:solidFill>
                  <a:srgbClr val="FFFFFF"/>
                </a:solidFill>
                <a:latin typeface="Eurostile"/>
                <a:cs typeface="Eurostile"/>
              </a:rPr>
              <a:t>s</a:t>
            </a:r>
            <a:endParaRPr sz="4300">
              <a:latin typeface="Eurostile"/>
              <a:cs typeface="Eurostil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6118" y="3657324"/>
            <a:ext cx="2892247" cy="288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27713" y="3463806"/>
            <a:ext cx="10233025" cy="382651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95"/>
              </a:spcBef>
            </a:pPr>
            <a:r>
              <a:rPr dirty="0" sz="11500" spc="20"/>
              <a:t>THE</a:t>
            </a:r>
            <a:r>
              <a:rPr dirty="0" sz="11500" spc="-8595"/>
              <a:t> </a:t>
            </a:r>
            <a:r>
              <a:rPr dirty="0" sz="11500" spc="-70"/>
              <a:t>GOAL</a:t>
            </a:r>
            <a:endParaRPr sz="11500"/>
          </a:p>
          <a:p>
            <a:pPr algn="ctr" marL="12700" marR="5080">
              <a:lnSpc>
                <a:spcPct val="100000"/>
              </a:lnSpc>
              <a:spcBef>
                <a:spcPts val="130"/>
              </a:spcBef>
            </a:pPr>
            <a:r>
              <a:rPr dirty="0" sz="4450" spc="-20">
                <a:latin typeface="Eurostile"/>
                <a:cs typeface="Eurostile"/>
              </a:rPr>
              <a:t>Find</a:t>
            </a:r>
            <a:r>
              <a:rPr dirty="0" sz="4450" spc="-3340">
                <a:latin typeface="Eurostile"/>
                <a:cs typeface="Eurostile"/>
              </a:rPr>
              <a:t> </a:t>
            </a:r>
            <a:r>
              <a:rPr dirty="0" sz="4450">
                <a:latin typeface="Eurostile"/>
                <a:cs typeface="Eurostile"/>
              </a:rPr>
              <a:t>the</a:t>
            </a:r>
            <a:r>
              <a:rPr dirty="0" sz="4450" spc="-3340">
                <a:latin typeface="Eurostile"/>
                <a:cs typeface="Eurostile"/>
              </a:rPr>
              <a:t> </a:t>
            </a:r>
            <a:r>
              <a:rPr dirty="0" sz="4450" spc="-25">
                <a:latin typeface="Eurostile"/>
                <a:cs typeface="Eurostile"/>
              </a:rPr>
              <a:t>hidden</a:t>
            </a:r>
            <a:r>
              <a:rPr dirty="0" sz="4450" spc="-3340">
                <a:latin typeface="Eurostile"/>
                <a:cs typeface="Eurostile"/>
              </a:rPr>
              <a:t> </a:t>
            </a:r>
            <a:r>
              <a:rPr dirty="0" sz="4450" spc="15">
                <a:latin typeface="Eurostile"/>
                <a:cs typeface="Eurostile"/>
              </a:rPr>
              <a:t>bitstrings</a:t>
            </a:r>
            <a:r>
              <a:rPr dirty="0" sz="4450" spc="-3340">
                <a:latin typeface="Eurostile"/>
                <a:cs typeface="Eurostile"/>
              </a:rPr>
              <a:t> </a:t>
            </a:r>
            <a:r>
              <a:rPr dirty="0" sz="4450" spc="5">
                <a:latin typeface="Eurostile"/>
                <a:cs typeface="Eurostile"/>
              </a:rPr>
              <a:t>that</a:t>
            </a:r>
            <a:r>
              <a:rPr dirty="0" sz="4450" spc="-3340">
                <a:latin typeface="Eurostile"/>
                <a:cs typeface="Eurostile"/>
              </a:rPr>
              <a:t> </a:t>
            </a:r>
            <a:r>
              <a:rPr dirty="0" sz="4450" spc="-10">
                <a:latin typeface="Eurostile"/>
                <a:cs typeface="Eurostile"/>
              </a:rPr>
              <a:t>appears</a:t>
            </a:r>
            <a:r>
              <a:rPr dirty="0" sz="4450" spc="-3340">
                <a:latin typeface="Eurostile"/>
                <a:cs typeface="Eurostile"/>
              </a:rPr>
              <a:t> </a:t>
            </a:r>
            <a:r>
              <a:rPr dirty="0" sz="4450" spc="10">
                <a:latin typeface="Eurostile"/>
                <a:cs typeface="Eurostile"/>
              </a:rPr>
              <a:t>with</a:t>
            </a:r>
            <a:r>
              <a:rPr dirty="0" sz="4450" spc="-15">
                <a:latin typeface="Eurostile"/>
                <a:cs typeface="Eurostile"/>
              </a:rPr>
              <a:t> </a:t>
            </a:r>
            <a:r>
              <a:rPr dirty="0" sz="4450" spc="-30">
                <a:latin typeface="Eurostile"/>
                <a:cs typeface="Eurostile"/>
              </a:rPr>
              <a:t>high</a:t>
            </a:r>
            <a:r>
              <a:rPr dirty="0" sz="4450" spc="-3340">
                <a:latin typeface="Eurostile"/>
                <a:cs typeface="Eurostile"/>
              </a:rPr>
              <a:t> </a:t>
            </a:r>
            <a:r>
              <a:rPr dirty="0" sz="4450" spc="5">
                <a:latin typeface="Eurostile"/>
                <a:cs typeface="Eurostile"/>
              </a:rPr>
              <a:t>probability</a:t>
            </a:r>
            <a:r>
              <a:rPr dirty="0" sz="4450" spc="-3340">
                <a:latin typeface="Eurostile"/>
                <a:cs typeface="Eurostile"/>
              </a:rPr>
              <a:t> </a:t>
            </a:r>
            <a:r>
              <a:rPr dirty="0" sz="4450" spc="-25">
                <a:latin typeface="Eurostile"/>
                <a:cs typeface="Eurostile"/>
              </a:rPr>
              <a:t>hidden</a:t>
            </a:r>
            <a:r>
              <a:rPr dirty="0" sz="4450" spc="-3340">
                <a:latin typeface="Eurostile"/>
                <a:cs typeface="Eurostile"/>
              </a:rPr>
              <a:t> </a:t>
            </a:r>
            <a:r>
              <a:rPr dirty="0" sz="4450">
                <a:latin typeface="Eurostile"/>
                <a:cs typeface="Eurostile"/>
              </a:rPr>
              <a:t>within</a:t>
            </a:r>
            <a:r>
              <a:rPr dirty="0" sz="4450" spc="-3340">
                <a:latin typeface="Eurostile"/>
                <a:cs typeface="Eurostile"/>
              </a:rPr>
              <a:t> </a:t>
            </a:r>
            <a:r>
              <a:rPr dirty="0" sz="4450" spc="-20">
                <a:latin typeface="Eurostile"/>
                <a:cs typeface="Eurostile"/>
              </a:rPr>
              <a:t>special</a:t>
            </a:r>
            <a:r>
              <a:rPr dirty="0" sz="4450" spc="1085">
                <a:latin typeface="Eurostile"/>
                <a:cs typeface="Eurostile"/>
              </a:rPr>
              <a:t> </a:t>
            </a:r>
            <a:r>
              <a:rPr dirty="0" sz="4450" spc="-20">
                <a:latin typeface="Eurostile"/>
                <a:cs typeface="Eurostile"/>
              </a:rPr>
              <a:t>quantum</a:t>
            </a:r>
            <a:r>
              <a:rPr dirty="0" sz="4450" spc="-3340">
                <a:latin typeface="Eurostile"/>
                <a:cs typeface="Eurostile"/>
              </a:rPr>
              <a:t> </a:t>
            </a:r>
            <a:r>
              <a:rPr dirty="0" sz="4450" spc="5">
                <a:latin typeface="Eurostile"/>
                <a:cs typeface="Eurostile"/>
              </a:rPr>
              <a:t>circuits</a:t>
            </a:r>
            <a:endParaRPr sz="4450">
              <a:latin typeface="Eurostile"/>
              <a:cs typeface="Eurosti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55880">
              <a:lnSpc>
                <a:spcPct val="100000"/>
              </a:lnSpc>
              <a:spcBef>
                <a:spcPts val="110"/>
              </a:spcBef>
            </a:pPr>
            <a:r>
              <a:rPr dirty="0" sz="7300" spc="25"/>
              <a:t>OU</a:t>
            </a:r>
            <a:r>
              <a:rPr dirty="0" sz="7300"/>
              <a:t>R</a:t>
            </a:r>
            <a:r>
              <a:rPr dirty="0" sz="7300" spc="-5450"/>
              <a:t> </a:t>
            </a:r>
            <a:r>
              <a:rPr dirty="0" sz="7300" spc="-25"/>
              <a:t>A</a:t>
            </a:r>
            <a:r>
              <a:rPr dirty="0" sz="7300" spc="-45"/>
              <a:t>PP</a:t>
            </a:r>
            <a:r>
              <a:rPr dirty="0" sz="7300"/>
              <a:t>R</a:t>
            </a:r>
            <a:r>
              <a:rPr dirty="0" sz="7300" spc="-70"/>
              <a:t>O</a:t>
            </a:r>
            <a:r>
              <a:rPr dirty="0" sz="7300" spc="-90"/>
              <a:t>A</a:t>
            </a:r>
            <a:r>
              <a:rPr dirty="0" sz="7300"/>
              <a:t>CH</a:t>
            </a:r>
            <a:endParaRPr sz="7300"/>
          </a:p>
        </p:txBody>
      </p:sp>
      <p:sp>
        <p:nvSpPr>
          <p:cNvPr id="3" name="object 3"/>
          <p:cNvSpPr txBox="1"/>
          <p:nvPr/>
        </p:nvSpPr>
        <p:spPr>
          <a:xfrm>
            <a:off x="1546674" y="2366386"/>
            <a:ext cx="7361555" cy="34112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39775" indent="-727075">
              <a:lnSpc>
                <a:spcPts val="5335"/>
              </a:lnSpc>
              <a:spcBef>
                <a:spcPts val="90"/>
              </a:spcBef>
              <a:buAutoNum type="arabicPeriod"/>
              <a:tabLst>
                <a:tab pos="739775" algn="l"/>
              </a:tabLst>
            </a:pP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Optimization</a:t>
            </a:r>
            <a:endParaRPr sz="4450">
              <a:latin typeface="Eurostile"/>
              <a:cs typeface="Eurostile"/>
            </a:endParaRPr>
          </a:p>
          <a:p>
            <a:pPr lvl="1" marL="1435100" indent="-675640">
              <a:lnSpc>
                <a:spcPts val="5330"/>
              </a:lnSpc>
              <a:buAutoNum type="alphaLcPeriod"/>
              <a:tabLst>
                <a:tab pos="1435100" algn="l"/>
              </a:tabLst>
            </a:pP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Qiskit</a:t>
            </a:r>
            <a:endParaRPr sz="4450">
              <a:latin typeface="Eurostile"/>
              <a:cs typeface="Eurostile"/>
            </a:endParaRPr>
          </a:p>
          <a:p>
            <a:pPr lvl="1" marL="1434465" indent="-681990">
              <a:lnSpc>
                <a:spcPts val="5330"/>
              </a:lnSpc>
              <a:buAutoNum type="alphaLcPeriod"/>
              <a:tabLst>
                <a:tab pos="1434465" algn="l"/>
              </a:tabLst>
            </a:pPr>
            <a:r>
              <a:rPr dirty="0" sz="4450" spc="-20">
                <a:solidFill>
                  <a:srgbClr val="FFFFFF"/>
                </a:solidFill>
                <a:latin typeface="Eurostile"/>
                <a:cs typeface="Eurostile"/>
              </a:rPr>
              <a:t>Tket</a:t>
            </a:r>
            <a:endParaRPr sz="4450">
              <a:latin typeface="Eurostile"/>
              <a:cs typeface="Eurostile"/>
            </a:endParaRPr>
          </a:p>
          <a:p>
            <a:pPr marL="752475" indent="-739775">
              <a:lnSpc>
                <a:spcPts val="5330"/>
              </a:lnSpc>
              <a:buAutoNum type="arabicPeriod"/>
              <a:tabLst>
                <a:tab pos="752475" algn="l"/>
              </a:tabLst>
            </a:pPr>
            <a:r>
              <a:rPr dirty="0" sz="4450" spc="5">
                <a:solidFill>
                  <a:srgbClr val="FFFFFF"/>
                </a:solidFill>
                <a:latin typeface="Eurostile"/>
                <a:cs typeface="Eurostile"/>
              </a:rPr>
              <a:t>Matrix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5">
                <a:solidFill>
                  <a:srgbClr val="FFFFFF"/>
                </a:solidFill>
                <a:latin typeface="Eurostile"/>
                <a:cs typeface="Eurostile"/>
              </a:rPr>
              <a:t>Product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35">
                <a:solidFill>
                  <a:srgbClr val="FFFFFF"/>
                </a:solidFill>
                <a:latin typeface="Eurostile"/>
                <a:cs typeface="Eurostile"/>
              </a:rPr>
              <a:t>State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40">
                <a:solidFill>
                  <a:srgbClr val="FFFFFF"/>
                </a:solidFill>
                <a:latin typeface="Eurostile"/>
                <a:cs typeface="Eurostile"/>
              </a:rPr>
              <a:t>(MPS)</a:t>
            </a:r>
            <a:endParaRPr sz="4450">
              <a:latin typeface="Eurostile"/>
              <a:cs typeface="Eurostile"/>
            </a:endParaRPr>
          </a:p>
          <a:p>
            <a:pPr marL="758825" indent="-746125">
              <a:lnSpc>
                <a:spcPts val="5335"/>
              </a:lnSpc>
              <a:buAutoNum type="arabicPeriod"/>
              <a:tabLst>
                <a:tab pos="758825" algn="l"/>
              </a:tabLst>
            </a:pPr>
            <a:r>
              <a:rPr dirty="0" sz="4450" spc="5">
                <a:solidFill>
                  <a:srgbClr val="FFFFFF"/>
                </a:solidFill>
                <a:latin typeface="Eurostile"/>
                <a:cs typeface="Eurostile"/>
              </a:rPr>
              <a:t>Rotation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removal</a:t>
            </a:r>
            <a:endParaRPr sz="4450">
              <a:latin typeface="Eurostile"/>
              <a:cs typeface="Eurosti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950" spc="30"/>
              <a:t>EXAMPLE:</a:t>
            </a:r>
            <a:r>
              <a:rPr dirty="0" sz="7950" spc="-5945"/>
              <a:t> </a:t>
            </a:r>
            <a:r>
              <a:rPr dirty="0" sz="7950" spc="-70"/>
              <a:t>PROBLEM</a:t>
            </a:r>
            <a:r>
              <a:rPr dirty="0" sz="7950" spc="-5945"/>
              <a:t> </a:t>
            </a:r>
            <a:r>
              <a:rPr dirty="0" sz="7950"/>
              <a:t>5</a:t>
            </a:r>
            <a:endParaRPr sz="79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just" marL="481965" indent="-469265">
              <a:lnSpc>
                <a:spcPts val="5335"/>
              </a:lnSpc>
              <a:spcBef>
                <a:spcPts val="90"/>
              </a:spcBef>
              <a:buFont typeface="Times New Roman"/>
              <a:buChar char="-"/>
              <a:tabLst>
                <a:tab pos="481965" algn="l"/>
              </a:tabLst>
            </a:pPr>
            <a:r>
              <a:rPr dirty="0"/>
              <a:t>Initially</a:t>
            </a:r>
            <a:r>
              <a:rPr dirty="0" spc="-3340"/>
              <a:t> </a:t>
            </a:r>
            <a:r>
              <a:rPr dirty="0"/>
              <a:t>only</a:t>
            </a:r>
            <a:r>
              <a:rPr dirty="0" spc="-3340"/>
              <a:t> </a:t>
            </a:r>
            <a:r>
              <a:rPr dirty="0" spc="-25"/>
              <a:t>used</a:t>
            </a:r>
            <a:r>
              <a:rPr dirty="0" spc="-3340"/>
              <a:t> </a:t>
            </a:r>
            <a:r>
              <a:rPr dirty="0" spc="-5"/>
              <a:t>Qiskit</a:t>
            </a:r>
          </a:p>
          <a:p>
            <a:pPr algn="just" marL="481330" marR="5080" indent="-469265">
              <a:lnSpc>
                <a:spcPts val="5330"/>
              </a:lnSpc>
              <a:spcBef>
                <a:spcPts val="185"/>
              </a:spcBef>
              <a:buFont typeface="Times New Roman"/>
              <a:buChar char="-"/>
              <a:tabLst>
                <a:tab pos="482600" algn="l"/>
              </a:tabLst>
            </a:pPr>
            <a:r>
              <a:rPr dirty="0" spc="-100"/>
              <a:t>We</a:t>
            </a:r>
            <a:r>
              <a:rPr dirty="0" spc="-2620"/>
              <a:t> </a:t>
            </a:r>
            <a:r>
              <a:rPr dirty="0" spc="-25"/>
              <a:t>used</a:t>
            </a:r>
            <a:r>
              <a:rPr dirty="0" spc="-2620"/>
              <a:t> </a:t>
            </a:r>
            <a:r>
              <a:rPr dirty="0" spc="5"/>
              <a:t>both</a:t>
            </a:r>
            <a:r>
              <a:rPr dirty="0" spc="-2620"/>
              <a:t> </a:t>
            </a:r>
            <a:r>
              <a:rPr dirty="0" spc="-5"/>
              <a:t>Qiskit</a:t>
            </a:r>
            <a:r>
              <a:rPr dirty="0" spc="-2620"/>
              <a:t> </a:t>
            </a:r>
            <a:r>
              <a:rPr dirty="0" spc="-25"/>
              <a:t>and</a:t>
            </a:r>
            <a:r>
              <a:rPr dirty="0" spc="-2620"/>
              <a:t> </a:t>
            </a:r>
            <a:r>
              <a:rPr dirty="0" spc="-10"/>
              <a:t>Tket</a:t>
            </a:r>
            <a:r>
              <a:rPr dirty="0" spc="-2620"/>
              <a:t> </a:t>
            </a:r>
            <a:r>
              <a:rPr dirty="0" spc="-25"/>
              <a:t>one</a:t>
            </a:r>
            <a:r>
              <a:rPr dirty="0" spc="-2620"/>
              <a:t> </a:t>
            </a:r>
            <a:r>
              <a:rPr dirty="0" spc="40"/>
              <a:t>after</a:t>
            </a:r>
            <a:r>
              <a:rPr dirty="0" spc="-15"/>
              <a:t> </a:t>
            </a:r>
            <a:r>
              <a:rPr dirty="0" spc="-15"/>
              <a:t>	</a:t>
            </a:r>
            <a:r>
              <a:rPr dirty="0" spc="-5"/>
              <a:t>another</a:t>
            </a:r>
            <a:r>
              <a:rPr dirty="0" spc="-2555"/>
              <a:t> </a:t>
            </a:r>
            <a:r>
              <a:rPr dirty="0" spc="20"/>
              <a:t>to</a:t>
            </a:r>
            <a:r>
              <a:rPr dirty="0" spc="-2555"/>
              <a:t> </a:t>
            </a:r>
            <a:r>
              <a:rPr dirty="0"/>
              <a:t>optimize</a:t>
            </a:r>
            <a:r>
              <a:rPr dirty="0" spc="-2555"/>
              <a:t> </a:t>
            </a:r>
            <a:r>
              <a:rPr dirty="0"/>
              <a:t>the</a:t>
            </a:r>
            <a:r>
              <a:rPr dirty="0" spc="-2555"/>
              <a:t> </a:t>
            </a:r>
            <a:r>
              <a:rPr dirty="0" spc="-20"/>
              <a:t>code</a:t>
            </a:r>
            <a:r>
              <a:rPr dirty="0" spc="-2555"/>
              <a:t> </a:t>
            </a:r>
            <a:r>
              <a:rPr dirty="0" spc="5"/>
              <a:t>before</a:t>
            </a:r>
            <a:r>
              <a:rPr dirty="0" spc="-2555"/>
              <a:t> </a:t>
            </a:r>
            <a:r>
              <a:rPr dirty="0" spc="-25"/>
              <a:t>we</a:t>
            </a:r>
            <a:r>
              <a:rPr dirty="0" spc="-15"/>
              <a:t> </a:t>
            </a:r>
            <a:r>
              <a:rPr dirty="0" spc="-15"/>
              <a:t>	</a:t>
            </a:r>
            <a:r>
              <a:rPr dirty="0" spc="-5"/>
              <a:t>eventually</a:t>
            </a:r>
            <a:r>
              <a:rPr dirty="0" spc="25"/>
              <a:t> </a:t>
            </a:r>
            <a:r>
              <a:rPr dirty="0" spc="-30"/>
              <a:t>managed</a:t>
            </a:r>
            <a:r>
              <a:rPr dirty="0" spc="25"/>
              <a:t> </a:t>
            </a:r>
            <a:r>
              <a:rPr dirty="0" spc="20"/>
              <a:t>to</a:t>
            </a:r>
            <a:r>
              <a:rPr dirty="0" spc="25"/>
              <a:t> retreive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 spc="-15"/>
              <a:t>	</a:t>
            </a:r>
            <a:r>
              <a:rPr dirty="0" spc="15"/>
              <a:t>bitstrings</a:t>
            </a:r>
            <a:r>
              <a:rPr dirty="0" spc="-3340"/>
              <a:t> </a:t>
            </a:r>
            <a:r>
              <a:rPr dirty="0" spc="10"/>
              <a:t>with</a:t>
            </a:r>
            <a:r>
              <a:rPr dirty="0" spc="-3340"/>
              <a:t> </a:t>
            </a:r>
            <a:r>
              <a:rPr dirty="0"/>
              <a:t>the</a:t>
            </a:r>
            <a:r>
              <a:rPr dirty="0" spc="-3340"/>
              <a:t> </a:t>
            </a:r>
            <a:r>
              <a:rPr dirty="0" spc="-10"/>
              <a:t>highest</a:t>
            </a:r>
            <a:r>
              <a:rPr dirty="0" spc="-3340"/>
              <a:t> </a:t>
            </a:r>
            <a:r>
              <a:rPr dirty="0" spc="-10"/>
              <a:t>probabilities.</a:t>
            </a:r>
          </a:p>
          <a:p>
            <a:pPr algn="just" lvl="1" marL="964565" marR="5080" indent="-482600">
              <a:lnSpc>
                <a:spcPts val="5330"/>
              </a:lnSpc>
              <a:buFont typeface="Times New Roman"/>
              <a:buChar char="◦"/>
              <a:tabLst>
                <a:tab pos="964565" algn="l"/>
                <a:tab pos="1303655" algn="l"/>
              </a:tabLst>
            </a:pP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	</a:t>
            </a: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Tket</a:t>
            </a:r>
            <a:r>
              <a:rPr dirty="0" sz="4450" spc="-3404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is</a:t>
            </a:r>
            <a:r>
              <a:rPr dirty="0" sz="4450" spc="-3404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highly</a:t>
            </a:r>
            <a:r>
              <a:rPr dirty="0" sz="4450" spc="-3404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0">
                <a:solidFill>
                  <a:srgbClr val="FFFFFF"/>
                </a:solidFill>
                <a:latin typeface="Eurostile"/>
                <a:cs typeface="Eurostile"/>
              </a:rPr>
              <a:t>efficient</a:t>
            </a:r>
            <a:r>
              <a:rPr dirty="0" sz="4450" spc="-3404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0">
                <a:solidFill>
                  <a:srgbClr val="FFFFFF"/>
                </a:solidFill>
                <a:latin typeface="Eurostile"/>
                <a:cs typeface="Eurostile"/>
              </a:rPr>
              <a:t>in</a:t>
            </a:r>
            <a:r>
              <a:rPr dirty="0" sz="4450" spc="-3404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reducing</a:t>
            </a:r>
            <a:r>
              <a:rPr dirty="0" sz="4450" spc="-3404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0">
                <a:solidFill>
                  <a:srgbClr val="FFFFFF"/>
                </a:solidFill>
                <a:latin typeface="Eurostile"/>
                <a:cs typeface="Eurostile"/>
              </a:rPr>
              <a:t>2-</a:t>
            </a:r>
            <a:r>
              <a:rPr dirty="0" sz="4450" spc="-25">
                <a:solidFill>
                  <a:srgbClr val="FFFFFF"/>
                </a:solidFill>
                <a:latin typeface="Eurostile"/>
                <a:cs typeface="Eurostile"/>
              </a:rPr>
              <a:t>qubit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5">
                <a:solidFill>
                  <a:srgbClr val="FFFFFF"/>
                </a:solidFill>
                <a:latin typeface="Eurostile"/>
                <a:cs typeface="Eurostile"/>
              </a:rPr>
              <a:t>gates</a:t>
            </a:r>
            <a:endParaRPr sz="4450">
              <a:latin typeface="Eurostile"/>
              <a:cs typeface="Eurosti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900" spc="50"/>
              <a:t>EXAMPLE:</a:t>
            </a:r>
            <a:r>
              <a:rPr dirty="0" sz="7900" spc="-5905"/>
              <a:t> </a:t>
            </a:r>
            <a:r>
              <a:rPr dirty="0" sz="7900" spc="-55"/>
              <a:t>PROBLEM</a:t>
            </a:r>
            <a:r>
              <a:rPr dirty="0" sz="7900" spc="-5905"/>
              <a:t> </a:t>
            </a:r>
            <a:r>
              <a:rPr dirty="0" sz="7900"/>
              <a:t>6</a:t>
            </a:r>
            <a:endParaRPr sz="7900"/>
          </a:p>
        </p:txBody>
      </p:sp>
      <p:sp>
        <p:nvSpPr>
          <p:cNvPr id="3" name="object 3"/>
          <p:cNvSpPr txBox="1"/>
          <p:nvPr/>
        </p:nvSpPr>
        <p:spPr>
          <a:xfrm>
            <a:off x="1546674" y="2366386"/>
            <a:ext cx="10323830" cy="2057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81330" marR="5080" indent="-469265">
              <a:lnSpc>
                <a:spcPct val="100000"/>
              </a:lnSpc>
              <a:spcBef>
                <a:spcPts val="90"/>
              </a:spcBef>
              <a:buFont typeface="Times New Roman"/>
              <a:buChar char="-"/>
              <a:tabLst>
                <a:tab pos="482600" algn="l"/>
              </a:tabLst>
            </a:pP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Initially,</a:t>
            </a:r>
            <a:r>
              <a:rPr dirty="0" sz="4450" spc="-282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5">
                <a:solidFill>
                  <a:srgbClr val="FFFFFF"/>
                </a:solidFill>
                <a:latin typeface="Eurostile"/>
                <a:cs typeface="Eurostile"/>
              </a:rPr>
              <a:t>we</a:t>
            </a:r>
            <a:r>
              <a:rPr dirty="0" sz="4450" spc="-282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0">
                <a:solidFill>
                  <a:srgbClr val="FFFFFF"/>
                </a:solidFill>
                <a:latin typeface="Eurostile"/>
                <a:cs typeface="Eurostile"/>
              </a:rPr>
              <a:t>built</a:t>
            </a:r>
            <a:r>
              <a:rPr dirty="0" sz="4450" spc="-282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5">
                <a:solidFill>
                  <a:srgbClr val="FFFFFF"/>
                </a:solidFill>
                <a:latin typeface="Eurostile"/>
                <a:cs typeface="Eurostile"/>
              </a:rPr>
              <a:t>on</a:t>
            </a:r>
            <a:r>
              <a:rPr dirty="0" sz="4450" spc="-282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problem</a:t>
            </a:r>
            <a:r>
              <a:rPr dirty="0" sz="4450" spc="-282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5">
                <a:solidFill>
                  <a:srgbClr val="FFFFFF"/>
                </a:solidFill>
                <a:latin typeface="Eurostile"/>
                <a:cs typeface="Eurostile"/>
              </a:rPr>
              <a:t>5,</a:t>
            </a:r>
            <a:r>
              <a:rPr dirty="0" sz="4450" spc="-282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optimizing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	</a:t>
            </a: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using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5">
                <a:solidFill>
                  <a:srgbClr val="FFFFFF"/>
                </a:solidFill>
                <a:latin typeface="Eurostile"/>
                <a:cs typeface="Eurostile"/>
              </a:rPr>
              <a:t>Qiskit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5">
                <a:solidFill>
                  <a:srgbClr val="FFFFFF"/>
                </a:solidFill>
                <a:latin typeface="Eurostile"/>
                <a:cs typeface="Eurostile"/>
              </a:rPr>
              <a:t>and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Tket</a:t>
            </a:r>
            <a:endParaRPr sz="4450">
              <a:latin typeface="Eurostile"/>
              <a:cs typeface="Eurostile"/>
            </a:endParaRPr>
          </a:p>
          <a:p>
            <a:pPr marL="481965" indent="-469265">
              <a:lnSpc>
                <a:spcPts val="5325"/>
              </a:lnSpc>
              <a:buFont typeface="Times New Roman"/>
              <a:buChar char="-"/>
              <a:tabLst>
                <a:tab pos="481965" algn="l"/>
              </a:tabLst>
            </a:pPr>
            <a:r>
              <a:rPr dirty="0" sz="4450" spc="-30">
                <a:solidFill>
                  <a:srgbClr val="FFFFFF"/>
                </a:solidFill>
                <a:latin typeface="Eurostile"/>
                <a:cs typeface="Eurostile"/>
              </a:rPr>
              <a:t>Removed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all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10">
                <a:solidFill>
                  <a:srgbClr val="FFFFFF"/>
                </a:solidFill>
                <a:latin typeface="Eurostile"/>
                <a:cs typeface="Eurostile"/>
              </a:rPr>
              <a:t>low-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impact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5">
                <a:solidFill>
                  <a:srgbClr val="FFFFFF"/>
                </a:solidFill>
                <a:latin typeface="Eurostile"/>
                <a:cs typeface="Eurostile"/>
              </a:rPr>
              <a:t>angles</a:t>
            </a:r>
            <a:endParaRPr sz="4450">
              <a:latin typeface="Eurostile"/>
              <a:cs typeface="Eurosti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6721" y="4397783"/>
            <a:ext cx="8028305" cy="702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34390" indent="-821690">
              <a:lnSpc>
                <a:spcPct val="100000"/>
              </a:lnSpc>
              <a:spcBef>
                <a:spcPts val="90"/>
              </a:spcBef>
              <a:buFont typeface="Times New Roman"/>
              <a:buChar char="◦"/>
              <a:tabLst>
                <a:tab pos="834390" algn="l"/>
              </a:tabLst>
            </a:pPr>
            <a:r>
              <a:rPr dirty="0" sz="4450" spc="-30">
                <a:solidFill>
                  <a:srgbClr val="FFFFFF"/>
                </a:solidFill>
                <a:latin typeface="Eurostile"/>
                <a:cs typeface="Eurostile"/>
              </a:rPr>
              <a:t>Small</a:t>
            </a:r>
            <a:r>
              <a:rPr dirty="0" sz="4450" spc="-445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35">
                <a:solidFill>
                  <a:srgbClr val="FFFFFF"/>
                </a:solidFill>
                <a:latin typeface="Eurostile"/>
                <a:cs typeface="Eurostile"/>
              </a:rPr>
              <a:t>angle</a:t>
            </a:r>
            <a:r>
              <a:rPr dirty="0" sz="4450" spc="-4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>
                <a:solidFill>
                  <a:srgbClr val="FFFFFF"/>
                </a:solidFill>
                <a:latin typeface="Eurostile"/>
                <a:cs typeface="Eurostile"/>
              </a:rPr>
              <a:t>rotations</a:t>
            </a:r>
            <a:r>
              <a:rPr dirty="0" sz="4450" spc="-4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rarely</a:t>
            </a:r>
            <a:endParaRPr sz="4450">
              <a:latin typeface="Eurostile"/>
              <a:cs typeface="Eurosti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9738" y="4397783"/>
            <a:ext cx="1701164" cy="2057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L="12700" marR="5080" indent="347980">
              <a:lnSpc>
                <a:spcPct val="100000"/>
              </a:lnSpc>
              <a:spcBef>
                <a:spcPts val="90"/>
              </a:spcBef>
            </a:pPr>
            <a:r>
              <a:rPr dirty="0" sz="4450" spc="-20">
                <a:solidFill>
                  <a:srgbClr val="FFFFFF"/>
                </a:solidFill>
                <a:latin typeface="Eurostile"/>
                <a:cs typeface="Eurostile"/>
              </a:rPr>
              <a:t>affect </a:t>
            </a: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making </a:t>
            </a:r>
            <a:r>
              <a:rPr dirty="0" sz="4450" spc="-20">
                <a:solidFill>
                  <a:srgbClr val="FFFFFF"/>
                </a:solidFill>
                <a:latin typeface="Eurostile"/>
                <a:cs typeface="Eurostile"/>
              </a:rPr>
              <a:t>drop,</a:t>
            </a:r>
            <a:endParaRPr sz="4450">
              <a:latin typeface="Eurostile"/>
              <a:cs typeface="Eurosti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8892" y="5074916"/>
            <a:ext cx="7538720" cy="2057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outcome</a:t>
            </a:r>
            <a:r>
              <a:rPr dirty="0" sz="4450" spc="-18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5">
                <a:solidFill>
                  <a:srgbClr val="FFFFFF"/>
                </a:solidFill>
                <a:latin typeface="Eurostile"/>
                <a:cs typeface="Eurostile"/>
              </a:rPr>
              <a:t>probabilities,</a:t>
            </a:r>
            <a:r>
              <a:rPr dirty="0" sz="4450" spc="-18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5">
                <a:solidFill>
                  <a:srgbClr val="FFFFFF"/>
                </a:solidFill>
                <a:latin typeface="Eurostile"/>
                <a:cs typeface="Eurostile"/>
              </a:rPr>
              <a:t>thus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them</a:t>
            </a:r>
            <a:r>
              <a:rPr dirty="0" sz="4450" spc="49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prime</a:t>
            </a:r>
            <a:r>
              <a:rPr dirty="0" sz="4450" spc="49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5">
                <a:solidFill>
                  <a:srgbClr val="FFFFFF"/>
                </a:solidFill>
                <a:latin typeface="Eurostile"/>
                <a:cs typeface="Eurostile"/>
              </a:rPr>
              <a:t>candidates</a:t>
            </a:r>
            <a:r>
              <a:rPr dirty="0" sz="4450" spc="49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20">
                <a:solidFill>
                  <a:srgbClr val="FFFFFF"/>
                </a:solidFill>
                <a:latin typeface="Eurostile"/>
                <a:cs typeface="Eurostile"/>
              </a:rPr>
              <a:t>to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 reducing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>
                <a:solidFill>
                  <a:srgbClr val="FFFFFF"/>
                </a:solidFill>
                <a:latin typeface="Eurostile"/>
                <a:cs typeface="Eurostile"/>
              </a:rPr>
              <a:t>the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5">
                <a:solidFill>
                  <a:srgbClr val="FFFFFF"/>
                </a:solidFill>
                <a:latin typeface="Eurostile"/>
                <a:cs typeface="Eurostile"/>
              </a:rPr>
              <a:t>number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0">
                <a:solidFill>
                  <a:srgbClr val="FFFFFF"/>
                </a:solidFill>
                <a:latin typeface="Eurostile"/>
                <a:cs typeface="Eurostile"/>
              </a:rPr>
              <a:t>of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5">
                <a:solidFill>
                  <a:srgbClr val="FFFFFF"/>
                </a:solidFill>
                <a:latin typeface="Eurostile"/>
                <a:cs typeface="Eurostile"/>
              </a:rPr>
              <a:t>gates</a:t>
            </a:r>
            <a:endParaRPr sz="4450">
              <a:latin typeface="Eurostile"/>
              <a:cs typeface="Eurosti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950" spc="30"/>
              <a:t>EXAMPLE:</a:t>
            </a:r>
            <a:r>
              <a:rPr dirty="0" sz="7950" spc="-5940"/>
              <a:t> </a:t>
            </a:r>
            <a:r>
              <a:rPr dirty="0" sz="7950" spc="-70"/>
              <a:t>PROBLEM</a:t>
            </a:r>
            <a:r>
              <a:rPr dirty="0" sz="7950" spc="-5940"/>
              <a:t> </a:t>
            </a:r>
            <a:r>
              <a:rPr dirty="0" sz="7950"/>
              <a:t>7</a:t>
            </a:r>
            <a:endParaRPr sz="79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481965" indent="-469265">
              <a:lnSpc>
                <a:spcPts val="5335"/>
              </a:lnSpc>
              <a:spcBef>
                <a:spcPts val="90"/>
              </a:spcBef>
              <a:buFont typeface="Times New Roman"/>
              <a:buChar char="-"/>
              <a:tabLst>
                <a:tab pos="481965" algn="l"/>
              </a:tabLst>
            </a:pPr>
            <a:r>
              <a:rPr dirty="0" spc="-10"/>
              <a:t>Visual</a:t>
            </a:r>
            <a:r>
              <a:rPr dirty="0" spc="-3340"/>
              <a:t> </a:t>
            </a:r>
            <a:r>
              <a:rPr dirty="0" spc="5"/>
              <a:t>analysis</a:t>
            </a:r>
          </a:p>
          <a:p>
            <a:pPr marL="481965" indent="-469265">
              <a:lnSpc>
                <a:spcPts val="5330"/>
              </a:lnSpc>
              <a:buFont typeface="Times New Roman"/>
              <a:buChar char="-"/>
              <a:tabLst>
                <a:tab pos="481965" algn="l"/>
              </a:tabLst>
            </a:pPr>
            <a:r>
              <a:rPr dirty="0" spc="-20"/>
              <a:t>Split</a:t>
            </a:r>
            <a:r>
              <a:rPr dirty="0" spc="-3340"/>
              <a:t> </a:t>
            </a:r>
            <a:r>
              <a:rPr dirty="0"/>
              <a:t>the</a:t>
            </a:r>
            <a:r>
              <a:rPr dirty="0" spc="-3340"/>
              <a:t> </a:t>
            </a:r>
            <a:r>
              <a:rPr dirty="0"/>
              <a:t>qubits</a:t>
            </a:r>
            <a:r>
              <a:rPr dirty="0" spc="-3340"/>
              <a:t> </a:t>
            </a:r>
            <a:r>
              <a:rPr dirty="0"/>
              <a:t>into</a:t>
            </a:r>
            <a:r>
              <a:rPr dirty="0" spc="-3340"/>
              <a:t> </a:t>
            </a:r>
            <a:r>
              <a:rPr dirty="0" spc="-30"/>
              <a:t>2</a:t>
            </a:r>
            <a:r>
              <a:rPr dirty="0" spc="-3340"/>
              <a:t> </a:t>
            </a:r>
            <a:r>
              <a:rPr dirty="0" spc="-20"/>
              <a:t>different</a:t>
            </a:r>
            <a:r>
              <a:rPr dirty="0" spc="-3340"/>
              <a:t> </a:t>
            </a:r>
            <a:r>
              <a:rPr dirty="0" spc="-15"/>
              <a:t>groups</a:t>
            </a:r>
          </a:p>
          <a:p>
            <a:pPr lvl="1" marL="1304290" indent="-821690">
              <a:lnSpc>
                <a:spcPts val="5330"/>
              </a:lnSpc>
              <a:buFont typeface="Times New Roman"/>
              <a:buChar char="◦"/>
              <a:tabLst>
                <a:tab pos="1304290" algn="l"/>
              </a:tabLst>
            </a:pP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Optimized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>
                <a:solidFill>
                  <a:srgbClr val="FFFFFF"/>
                </a:solidFill>
                <a:latin typeface="Eurostile"/>
                <a:cs typeface="Eurostile"/>
              </a:rPr>
              <a:t>separately</a:t>
            </a:r>
            <a:endParaRPr sz="4450">
              <a:latin typeface="Eurostile"/>
              <a:cs typeface="Eurostile"/>
            </a:endParaRPr>
          </a:p>
          <a:p>
            <a:pPr lvl="1" marL="964565" marR="5080" indent="-482600">
              <a:lnSpc>
                <a:spcPts val="5330"/>
              </a:lnSpc>
              <a:spcBef>
                <a:spcPts val="110"/>
              </a:spcBef>
              <a:buFont typeface="Times New Roman"/>
              <a:buChar char="◦"/>
              <a:tabLst>
                <a:tab pos="964565" algn="l"/>
                <a:tab pos="1303655" algn="l"/>
              </a:tabLst>
            </a:pPr>
            <a:r>
              <a:rPr dirty="0" sz="4450" spc="-25">
                <a:solidFill>
                  <a:srgbClr val="FFFFFF"/>
                </a:solidFill>
                <a:latin typeface="Eurostile"/>
                <a:cs typeface="Eurostile"/>
              </a:rPr>
              <a:t>	</a:t>
            </a:r>
            <a:r>
              <a:rPr dirty="0" sz="4450" spc="-25">
                <a:solidFill>
                  <a:srgbClr val="FFFFFF"/>
                </a:solidFill>
                <a:latin typeface="Eurostile"/>
                <a:cs typeface="Eurostile"/>
              </a:rPr>
              <a:t>Combined</a:t>
            </a:r>
            <a:r>
              <a:rPr dirty="0" sz="4450" spc="-263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15">
                <a:solidFill>
                  <a:srgbClr val="FFFFFF"/>
                </a:solidFill>
                <a:latin typeface="Eurostile"/>
                <a:cs typeface="Eurostile"/>
              </a:rPr>
              <a:t>bitstrings</a:t>
            </a:r>
            <a:r>
              <a:rPr dirty="0" sz="4450" spc="-263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40">
                <a:solidFill>
                  <a:srgbClr val="FFFFFF"/>
                </a:solidFill>
                <a:latin typeface="Eurostile"/>
                <a:cs typeface="Eurostile"/>
              </a:rPr>
              <a:t>after</a:t>
            </a:r>
            <a:r>
              <a:rPr dirty="0" sz="4450" spc="-263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15">
                <a:solidFill>
                  <a:srgbClr val="FFFFFF"/>
                </a:solidFill>
                <a:latin typeface="Eurostile"/>
                <a:cs typeface="Eurostile"/>
              </a:rPr>
              <a:t>bitstrings</a:t>
            </a:r>
            <a:r>
              <a:rPr dirty="0" sz="4450" spc="-263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0">
                <a:solidFill>
                  <a:srgbClr val="FFFFFF"/>
                </a:solidFill>
                <a:latin typeface="Eurostile"/>
                <a:cs typeface="Eurostile"/>
              </a:rPr>
              <a:t>of</a:t>
            </a:r>
            <a:r>
              <a:rPr dirty="0" sz="4450" spc="-15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25">
                <a:solidFill>
                  <a:srgbClr val="FFFFFF"/>
                </a:solidFill>
                <a:latin typeface="Eurostile"/>
                <a:cs typeface="Eurostile"/>
              </a:rPr>
              <a:t>each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10">
                <a:solidFill>
                  <a:srgbClr val="FFFFFF"/>
                </a:solidFill>
                <a:latin typeface="Eurostile"/>
                <a:cs typeface="Eurostile"/>
              </a:rPr>
              <a:t>group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-5">
                <a:solidFill>
                  <a:srgbClr val="FFFFFF"/>
                </a:solidFill>
                <a:latin typeface="Eurostile"/>
                <a:cs typeface="Eurostile"/>
              </a:rPr>
              <a:t>were</a:t>
            </a:r>
            <a:r>
              <a:rPr dirty="0" sz="4450" spc="-3340">
                <a:solidFill>
                  <a:srgbClr val="FFFFFF"/>
                </a:solidFill>
                <a:latin typeface="Eurostile"/>
                <a:cs typeface="Eurostile"/>
              </a:rPr>
              <a:t> </a:t>
            </a:r>
            <a:r>
              <a:rPr dirty="0" sz="4450" spc="20">
                <a:solidFill>
                  <a:srgbClr val="FFFFFF"/>
                </a:solidFill>
                <a:latin typeface="Eurostile"/>
                <a:cs typeface="Eurostile"/>
              </a:rPr>
              <a:t>retreived</a:t>
            </a:r>
            <a:endParaRPr sz="4450">
              <a:latin typeface="Eurostile"/>
              <a:cs typeface="Eurosti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15"/>
              </a:spcBef>
            </a:pPr>
            <a:r>
              <a:rPr dirty="0" spc="45"/>
              <a:t>C</a:t>
            </a:r>
            <a:r>
              <a:rPr dirty="0"/>
              <a:t>ODE</a:t>
            </a:r>
            <a:r>
              <a:rPr dirty="0" spc="-5600"/>
              <a:t> </a:t>
            </a:r>
            <a:r>
              <a:rPr dirty="0" spc="60"/>
              <a:t>S</a:t>
            </a:r>
            <a:r>
              <a:rPr dirty="0"/>
              <a:t>A</a:t>
            </a:r>
            <a:r>
              <a:rPr dirty="0" spc="45"/>
              <a:t>M</a:t>
            </a:r>
            <a:r>
              <a:rPr dirty="0" spc="-50"/>
              <a:t>PL</a:t>
            </a:r>
            <a:r>
              <a:rPr dirty="0"/>
              <a:t>E/DEMO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14"/>
              </a:spcBef>
            </a:pPr>
            <a:r>
              <a:rPr dirty="0" spc="-20"/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36408" y="3917256"/>
            <a:ext cx="8015605" cy="20732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400" spc="-310"/>
              <a:t>T</a:t>
            </a:r>
            <a:r>
              <a:rPr dirty="0" sz="13400" spc="-340"/>
              <a:t>h</a:t>
            </a:r>
            <a:r>
              <a:rPr dirty="0" sz="13400" spc="-260"/>
              <a:t>an</a:t>
            </a:r>
            <a:r>
              <a:rPr dirty="0" sz="13400"/>
              <a:t>k</a:t>
            </a:r>
            <a:r>
              <a:rPr dirty="0" sz="13400" spc="-10515"/>
              <a:t> </a:t>
            </a:r>
            <a:r>
              <a:rPr dirty="0" sz="13400"/>
              <a:t>you!</a:t>
            </a:r>
            <a:endParaRPr sz="13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2026-04-05T12:48:37Z</dcterms:created>
  <dcterms:modified xsi:type="dcterms:W3CDTF">2026-04-05T12:48:37Z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2026-04-05T00:00:00Z</vt:filetime>
  </property>
  <property fmtid="{D5CDD505-2E9C-101B-9397-08002B2CF9AE}" pid="3" name="CreationClient">
    <vt:lpwstr>authoring</vt:lpwstr>
  </property>
  <property fmtid="{D5CDD505-2E9C-101B-9397-08002B2CF9AE}" pid="4" name="Creator">
    <vt:lpwstr>Adobe Express</vt:lpwstr>
  </property>
  <property fmtid="{D5CDD505-2E9C-101B-9397-08002B2CF9AE}" pid="5" name="LastSaved">
    <vt:filetime>2026-04-05T00:00:00Z</vt:filetime>
  </property>
  <property fmtid="{D5CDD505-2E9C-101B-9397-08002B2CF9AE}" pid="6" name="Producer">
    <vt:lpwstr>Adobe Express</vt:lpwstr>
  </property>
</Properties>
</file>